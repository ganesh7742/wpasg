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1B3EF-9676-A4CF-C722-6BB19875C6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64AA45-DABE-1CD7-2B7C-7654D325FF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126C61-0FAD-D1F4-C733-928736018F89}"/>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5" name="Footer Placeholder 4">
            <a:extLst>
              <a:ext uri="{FF2B5EF4-FFF2-40B4-BE49-F238E27FC236}">
                <a16:creationId xmlns:a16="http://schemas.microsoft.com/office/drawing/2014/main" id="{99F8DC84-8B98-13A3-C033-8C728281C6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9132A5-23FD-E087-C6DB-DD45AE9FD9CE}"/>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3934136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D6277-C0B5-7A4C-1426-59021A2FCB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9ED81A-1971-551B-835F-7F50247C98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510A3B-35F9-3D77-04A0-089F24C2A5A0}"/>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5" name="Footer Placeholder 4">
            <a:extLst>
              <a:ext uri="{FF2B5EF4-FFF2-40B4-BE49-F238E27FC236}">
                <a16:creationId xmlns:a16="http://schemas.microsoft.com/office/drawing/2014/main" id="{E26BEAE4-D41C-C7AE-009A-75F23C1FAC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9E0A3-CC65-E4A5-952B-D320823F8F16}"/>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830224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10E8D-66EC-73D1-7128-E779244661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4E9700-9DE5-A2EA-8572-84985311D6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CC9000-4475-1501-D591-C6CB2C1E3692}"/>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5" name="Footer Placeholder 4">
            <a:extLst>
              <a:ext uri="{FF2B5EF4-FFF2-40B4-BE49-F238E27FC236}">
                <a16:creationId xmlns:a16="http://schemas.microsoft.com/office/drawing/2014/main" id="{BED03B94-BB4A-4C88-D241-9BD491D93D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CFF321-2F47-178B-5CCE-46200B75153F}"/>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112793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CD148-1DE0-60D4-770B-1AAF7D7B1D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015EA1-6165-55C3-D897-F340098830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A5A4D7-6F94-EB76-1B2A-2463A1587E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114F64-8F12-EAC9-4C1F-16669B38BC46}"/>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6" name="Footer Placeholder 5">
            <a:extLst>
              <a:ext uri="{FF2B5EF4-FFF2-40B4-BE49-F238E27FC236}">
                <a16:creationId xmlns:a16="http://schemas.microsoft.com/office/drawing/2014/main" id="{F2084114-076C-9352-D559-64DCD9D96A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411A1A-6DB9-5469-2F07-2B1DD285B86C}"/>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84356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93EC6-D596-E3E4-8538-025052D592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AFE022-8185-46E7-A433-99B204C288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87789D-D583-708B-208D-D76BF78586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78F1369-1634-FB1E-9018-1EC1D50733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76D4B1-92E3-6FB9-290B-B8102CBB6F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BB64762-4926-4FD6-0213-F9A10B3E752C}"/>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8" name="Footer Placeholder 7">
            <a:extLst>
              <a:ext uri="{FF2B5EF4-FFF2-40B4-BE49-F238E27FC236}">
                <a16:creationId xmlns:a16="http://schemas.microsoft.com/office/drawing/2014/main" id="{22A9A677-8D74-BDD3-55D3-78CCF173A0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C0C92-83D9-A229-87DD-83F0D7A6E9D5}"/>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3292085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753B8-38B9-FBEA-A65C-CC2FD3C237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1E6F62-F081-542E-1CCA-13F1A26E4ED7}"/>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4" name="Footer Placeholder 3">
            <a:extLst>
              <a:ext uri="{FF2B5EF4-FFF2-40B4-BE49-F238E27FC236}">
                <a16:creationId xmlns:a16="http://schemas.microsoft.com/office/drawing/2014/main" id="{EC32D01E-0C26-F8E0-09A1-34F194C14B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D8648F-68A9-9350-FD20-E337A2EFBE76}"/>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3809566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574B2F-B1BB-E9DB-AF29-07CFA2AC5865}"/>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3" name="Footer Placeholder 2">
            <a:extLst>
              <a:ext uri="{FF2B5EF4-FFF2-40B4-BE49-F238E27FC236}">
                <a16:creationId xmlns:a16="http://schemas.microsoft.com/office/drawing/2014/main" id="{54FDD018-3D09-7055-D3D0-28BAE592EC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CB7E99-9E93-C5A2-7B4C-BE1313911071}"/>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692613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90C2B-E062-0A3F-E18D-00B3FCB796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549C64D-3C31-3F15-715D-308FACF546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FE3762-F06A-5A1D-D9FC-003B93535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1AD2A5-2BD2-7FB1-0C5A-2C2E720B45B1}"/>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6" name="Footer Placeholder 5">
            <a:extLst>
              <a:ext uri="{FF2B5EF4-FFF2-40B4-BE49-F238E27FC236}">
                <a16:creationId xmlns:a16="http://schemas.microsoft.com/office/drawing/2014/main" id="{D64D5DF1-9F98-1A2C-515A-4B78C144B7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6EA0F7-082A-2357-9268-96D3912C5672}"/>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3754461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ECF4E-B335-8241-EDE2-57247FB340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8D088-A3C6-DC8B-9366-A7BBD3E1FFB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657946-0ED0-2A07-1DC2-2B1F9B263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5B67EE-B11D-58E2-FC8A-02F4DA4298A1}"/>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6" name="Footer Placeholder 5">
            <a:extLst>
              <a:ext uri="{FF2B5EF4-FFF2-40B4-BE49-F238E27FC236}">
                <a16:creationId xmlns:a16="http://schemas.microsoft.com/office/drawing/2014/main" id="{1521DC6B-2B42-C6E6-1B03-332FA8B71A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741C22-CEBA-3E08-8303-02676AD76869}"/>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268572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596AD-44C0-5F3C-1969-154D08A538E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9FD48F-256D-6644-10CB-084D58AFA7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429DA1-DA81-DC07-3652-B99E5861BA0F}"/>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5" name="Footer Placeholder 4">
            <a:extLst>
              <a:ext uri="{FF2B5EF4-FFF2-40B4-BE49-F238E27FC236}">
                <a16:creationId xmlns:a16="http://schemas.microsoft.com/office/drawing/2014/main" id="{38DCBC3D-943F-3055-5A04-04C2630B77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CD943-A4DF-2D09-67D6-FBE541BA4737}"/>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374294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EE4102-7738-33C7-A7BE-516FA43095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02F6B2-6FDF-5DF4-027C-B3EB8083F0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9C4413-0223-DF66-B284-834B93EBFE4E}"/>
              </a:ext>
            </a:extLst>
          </p:cNvPr>
          <p:cNvSpPr>
            <a:spLocks noGrp="1"/>
          </p:cNvSpPr>
          <p:nvPr>
            <p:ph type="dt" sz="half" idx="10"/>
          </p:nvPr>
        </p:nvSpPr>
        <p:spPr/>
        <p:txBody>
          <a:bodyPr/>
          <a:lstStyle/>
          <a:p>
            <a:fld id="{8C16483E-47F4-4365-9569-DE05E771ADDB}" type="datetimeFigureOut">
              <a:rPr lang="en-IN" smtClean="0"/>
              <a:t>12-10-2026</a:t>
            </a:fld>
            <a:endParaRPr lang="en-IN"/>
          </a:p>
        </p:txBody>
      </p:sp>
      <p:sp>
        <p:nvSpPr>
          <p:cNvPr id="5" name="Footer Placeholder 4">
            <a:extLst>
              <a:ext uri="{FF2B5EF4-FFF2-40B4-BE49-F238E27FC236}">
                <a16:creationId xmlns:a16="http://schemas.microsoft.com/office/drawing/2014/main" id="{AE61A764-50AF-6FD6-8AC4-E8AED17689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9D017-A485-9720-48C3-BB8A9777D27D}"/>
              </a:ext>
            </a:extLst>
          </p:cNvPr>
          <p:cNvSpPr>
            <a:spLocks noGrp="1"/>
          </p:cNvSpPr>
          <p:nvPr>
            <p:ph type="sldNum" sz="quarter" idx="12"/>
          </p:nvPr>
        </p:nvSpPr>
        <p:spPr/>
        <p:txBody>
          <a:bodyPr/>
          <a:lstStyle/>
          <a:p>
            <a:fld id="{76CFDACD-A8F0-4494-9012-889C71F8D88D}" type="slidenum">
              <a:rPr lang="en-IN" smtClean="0"/>
              <a:t>‹#›</a:t>
            </a:fld>
            <a:endParaRPr lang="en-IN"/>
          </a:p>
        </p:txBody>
      </p:sp>
    </p:spTree>
    <p:extLst>
      <p:ext uri="{BB962C8B-B14F-4D97-AF65-F5344CB8AC3E}">
        <p14:creationId xmlns:p14="http://schemas.microsoft.com/office/powerpoint/2010/main" val="3934490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BC1F88-3197-0F85-C8E6-CB6A8CC005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8D3C34-5F4F-1484-1ABC-3CE837289A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45D838-73CD-D09A-158E-D2E81A8B7A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16483E-47F4-4365-9569-DE05E771ADDB}" type="datetimeFigureOut">
              <a:rPr lang="en-IN" smtClean="0"/>
              <a:t>12-10-2026</a:t>
            </a:fld>
            <a:endParaRPr lang="en-IN"/>
          </a:p>
        </p:txBody>
      </p:sp>
      <p:sp>
        <p:nvSpPr>
          <p:cNvPr id="5" name="Footer Placeholder 4">
            <a:extLst>
              <a:ext uri="{FF2B5EF4-FFF2-40B4-BE49-F238E27FC236}">
                <a16:creationId xmlns:a16="http://schemas.microsoft.com/office/drawing/2014/main" id="{6539C708-D53F-4951-7144-5E9BB8704A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EBFD407-3C33-CAC7-92A3-67782B72BB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CFDACD-A8F0-4494-9012-889C71F8D88D}" type="slidenum">
              <a:rPr lang="en-IN" smtClean="0"/>
              <a:t>‹#›</a:t>
            </a:fld>
            <a:endParaRPr lang="en-IN"/>
          </a:p>
        </p:txBody>
      </p:sp>
    </p:spTree>
    <p:extLst>
      <p:ext uri="{BB962C8B-B14F-4D97-AF65-F5344CB8AC3E}">
        <p14:creationId xmlns:p14="http://schemas.microsoft.com/office/powerpoint/2010/main" val="1421245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89D40-40B4-6573-0003-B3AF60672992}"/>
              </a:ext>
            </a:extLst>
          </p:cNvPr>
          <p:cNvSpPr>
            <a:spLocks noGrp="1"/>
          </p:cNvSpPr>
          <p:nvPr>
            <p:ph type="ctrTitle"/>
          </p:nvPr>
        </p:nvSpPr>
        <p:spPr>
          <a:xfrm>
            <a:off x="1524000" y="1868128"/>
            <a:ext cx="9144000" cy="2320413"/>
          </a:xfrm>
        </p:spPr>
        <p:txBody>
          <a:bodyPr>
            <a:normAutofit fontScale="90000"/>
          </a:bodyPr>
          <a:lstStyle/>
          <a:p>
            <a:r>
              <a:rPr lang="en-IN" dirty="0" err="1"/>
              <a:t>StudyPulse</a:t>
            </a:r>
            <a:r>
              <a:rPr lang="en-IN" dirty="0"/>
              <a:t>: A Smart Student Workload Management System</a:t>
            </a:r>
          </a:p>
        </p:txBody>
      </p:sp>
    </p:spTree>
    <p:extLst>
      <p:ext uri="{BB962C8B-B14F-4D97-AF65-F5344CB8AC3E}">
        <p14:creationId xmlns:p14="http://schemas.microsoft.com/office/powerpoint/2010/main" val="1929486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3CDB844-5F0C-0B84-5DEE-0212B6C2BD4F}"/>
              </a:ext>
            </a:extLst>
          </p:cNvPr>
          <p:cNvSpPr txBox="1"/>
          <p:nvPr/>
        </p:nvSpPr>
        <p:spPr>
          <a:xfrm>
            <a:off x="737419" y="363794"/>
            <a:ext cx="10333703" cy="5355312"/>
          </a:xfrm>
          <a:prstGeom prst="rect">
            <a:avLst/>
          </a:prstGeom>
          <a:noFill/>
        </p:spPr>
        <p:txBody>
          <a:bodyPr wrap="square">
            <a:spAutoFit/>
          </a:bodyPr>
          <a:lstStyle/>
          <a:p>
            <a:pPr>
              <a:buNone/>
            </a:pPr>
            <a:endParaRPr lang="en-IN" b="1" dirty="0"/>
          </a:p>
          <a:p>
            <a:pPr>
              <a:buNone/>
            </a:pPr>
            <a:endParaRPr lang="en-IN" b="1" dirty="0"/>
          </a:p>
          <a:p>
            <a:pPr>
              <a:buNone/>
            </a:pPr>
            <a:r>
              <a:rPr lang="en-IN" b="1" dirty="0"/>
              <a:t>Problem Statement</a:t>
            </a:r>
          </a:p>
          <a:p>
            <a:pPr marL="342900" lvl="0" indent="-342900">
              <a:buFont typeface="Arial" panose="020B0604020202020204" pitchFamily="34" charset="0"/>
              <a:buChar char="•"/>
            </a:pPr>
            <a:r>
              <a:rPr lang="en-IN" dirty="0"/>
              <a:t>Students struggle to manage multiple academic responsibilities, including assignments, lab records, projects, and examinations.</a:t>
            </a:r>
          </a:p>
          <a:p>
            <a:pPr marL="342900" lvl="0" indent="-342900">
              <a:buFont typeface="Arial" panose="020B0604020202020204" pitchFamily="34" charset="0"/>
              <a:buChar char="•"/>
            </a:pPr>
            <a:r>
              <a:rPr lang="en-IN" dirty="0"/>
              <a:t>Traditional tools lack centralized academic task management and intelligent deadline tracking.</a:t>
            </a:r>
          </a:p>
          <a:p>
            <a:pPr marL="342900" lvl="0" indent="-342900">
              <a:buFont typeface="Arial" panose="020B0604020202020204" pitchFamily="34" charset="0"/>
              <a:buChar char="•"/>
            </a:pPr>
            <a:r>
              <a:rPr lang="en-IN" dirty="0"/>
              <a:t>Difficulty in prioritizing tasks often leads to missed deadlines and poor time management.</a:t>
            </a:r>
          </a:p>
          <a:p>
            <a:pPr marL="342900" lvl="0" indent="-342900">
              <a:buFont typeface="Arial" panose="020B0604020202020204" pitchFamily="34" charset="0"/>
              <a:buChar char="•"/>
            </a:pPr>
            <a:r>
              <a:rPr lang="en-IN" dirty="0"/>
              <a:t>Students lack an integrated platform to monitor progress and maintain consistent study routines.</a:t>
            </a:r>
          </a:p>
          <a:p>
            <a:pPr marL="342900" lvl="0" indent="-342900">
              <a:buFont typeface="Arial" panose="020B0604020202020204" pitchFamily="34" charset="0"/>
              <a:buChar char="•"/>
            </a:pPr>
            <a:r>
              <a:rPr lang="en-IN" dirty="0"/>
              <a:t>Managing deadlines across multiple subjects can increase academic stress and reduce productivity.</a:t>
            </a:r>
          </a:p>
          <a:p>
            <a:pPr marL="342900" lvl="0" indent="-342900">
              <a:buFont typeface="Arial" panose="020B0604020202020204" pitchFamily="34" charset="0"/>
              <a:buChar char="•"/>
            </a:pPr>
            <a:r>
              <a:rPr lang="en-IN" dirty="0"/>
              <a:t>Existing tools do not effectively combine task scheduling, progress tracking, and focused study sessions.</a:t>
            </a:r>
          </a:p>
          <a:p>
            <a:pPr marL="342900" lvl="0" indent="-342900">
              <a:buFont typeface="Arial" panose="020B0604020202020204" pitchFamily="34" charset="0"/>
              <a:buChar char="•"/>
            </a:pPr>
            <a:endParaRPr lang="en-IN" dirty="0"/>
          </a:p>
          <a:p>
            <a:pPr>
              <a:buNone/>
            </a:pPr>
            <a:r>
              <a:rPr lang="en-IN" b="1" dirty="0"/>
              <a:t>Proposed Solution</a:t>
            </a:r>
          </a:p>
          <a:p>
            <a:pPr marL="342900" lvl="0" indent="-342900">
              <a:buFont typeface="Arial" panose="020B0604020202020204" pitchFamily="34" charset="0"/>
              <a:buChar char="•"/>
            </a:pPr>
            <a:r>
              <a:rPr lang="en-IN" dirty="0"/>
              <a:t>Develop </a:t>
            </a:r>
            <a:r>
              <a:rPr lang="en-IN" b="1" dirty="0" err="1"/>
              <a:t>StudyPulse</a:t>
            </a:r>
            <a:r>
              <a:rPr lang="en-IN" dirty="0"/>
              <a:t>, a centralized web application for academic workload management.</a:t>
            </a:r>
          </a:p>
          <a:p>
            <a:pPr marL="342900" lvl="0" indent="-342900">
              <a:buFont typeface="Arial" panose="020B0604020202020204" pitchFamily="34" charset="0"/>
              <a:buChar char="•"/>
            </a:pPr>
            <a:r>
              <a:rPr lang="en-IN" dirty="0"/>
              <a:t>Enable students to create, update, delete, and track tasks based on subjects, priorities, and deadlines.</a:t>
            </a:r>
          </a:p>
          <a:p>
            <a:pPr marL="342900" lvl="0" indent="-342900">
              <a:buFont typeface="Arial" panose="020B0604020202020204" pitchFamily="34" charset="0"/>
              <a:buChar char="•"/>
            </a:pPr>
            <a:r>
              <a:rPr lang="en-IN" dirty="0"/>
              <a:t>Automatically classify tasks as Overdue, Due Today, Upcoming, or Completed.</a:t>
            </a:r>
          </a:p>
          <a:p>
            <a:pPr marL="342900" lvl="0" indent="-342900">
              <a:buFont typeface="Arial" panose="020B0604020202020204" pitchFamily="34" charset="0"/>
              <a:buChar char="•"/>
            </a:pPr>
            <a:r>
              <a:rPr lang="en-IN" dirty="0"/>
              <a:t>Provide an interactive academic calendar and dashboard to monitor schedules and progress.</a:t>
            </a:r>
          </a:p>
          <a:p>
            <a:pPr marL="342900" lvl="0" indent="-342900">
              <a:buFont typeface="Arial" panose="020B0604020202020204" pitchFamily="34" charset="0"/>
              <a:buChar char="•"/>
            </a:pPr>
            <a:r>
              <a:rPr lang="en-IN" dirty="0"/>
              <a:t>Integrate a Pomodoro timer to encourage focused study sessions and improve productivity.</a:t>
            </a:r>
          </a:p>
          <a:p>
            <a:pPr marL="342900" lvl="0" indent="-342900">
              <a:buFont typeface="Arial" panose="020B0604020202020204" pitchFamily="34" charset="0"/>
              <a:buChar char="•"/>
            </a:pPr>
            <a:r>
              <a:rPr lang="en-IN" dirty="0"/>
              <a:t>Implement priority-based task sorting to help students focus on important and urgent assignments.</a:t>
            </a:r>
          </a:p>
          <a:p>
            <a:pPr marL="342900" lvl="0" indent="-342900">
              <a:buFont typeface="Arial" panose="020B0604020202020204" pitchFamily="34" charset="0"/>
              <a:buChar char="•"/>
            </a:pPr>
            <a:r>
              <a:rPr lang="en-IN" dirty="0"/>
              <a:t>Provide a simple, user-friendly interface to organize academic activities efficiently.</a:t>
            </a:r>
          </a:p>
        </p:txBody>
      </p:sp>
    </p:spTree>
    <p:extLst>
      <p:ext uri="{BB962C8B-B14F-4D97-AF65-F5344CB8AC3E}">
        <p14:creationId xmlns:p14="http://schemas.microsoft.com/office/powerpoint/2010/main" val="4280724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9578C9-3BC0-D2D8-A33D-8F05DDBF4B3A}"/>
              </a:ext>
            </a:extLst>
          </p:cNvPr>
          <p:cNvSpPr txBox="1"/>
          <p:nvPr/>
        </p:nvSpPr>
        <p:spPr>
          <a:xfrm>
            <a:off x="334297" y="-77195"/>
            <a:ext cx="10609005" cy="5355312"/>
          </a:xfrm>
          <a:prstGeom prst="rect">
            <a:avLst/>
          </a:prstGeom>
          <a:noFill/>
        </p:spPr>
        <p:txBody>
          <a:bodyPr wrap="square">
            <a:spAutoFit/>
          </a:bodyPr>
          <a:lstStyle/>
          <a:p>
            <a:pPr>
              <a:buNone/>
            </a:pPr>
            <a:endParaRPr lang="en-IN" b="1" dirty="0"/>
          </a:p>
          <a:p>
            <a:pPr>
              <a:buNone/>
            </a:pPr>
            <a:endParaRPr lang="en-IN" b="1" dirty="0"/>
          </a:p>
          <a:p>
            <a:pPr>
              <a:buNone/>
            </a:pPr>
            <a:endParaRPr lang="en-IN" b="1" dirty="0"/>
          </a:p>
          <a:p>
            <a:pPr>
              <a:buNone/>
            </a:pPr>
            <a:r>
              <a:rPr lang="en-IN" b="1" dirty="0"/>
              <a:t>Project Objectives and Key Features</a:t>
            </a:r>
          </a:p>
          <a:p>
            <a:pPr>
              <a:buNone/>
            </a:pPr>
            <a:endParaRPr lang="en-IN" b="1" dirty="0"/>
          </a:p>
          <a:p>
            <a:pPr marL="342900" lvl="0" indent="-342900">
              <a:buFont typeface="Arial" panose="020B0604020202020204" pitchFamily="34" charset="0"/>
              <a:buChar char="•"/>
            </a:pPr>
            <a:r>
              <a:rPr lang="en-IN" b="1" dirty="0"/>
              <a:t>Task Management:</a:t>
            </a:r>
            <a:r>
              <a:rPr lang="en-IN" dirty="0"/>
              <a:t> Provides complete CRUD (Create, Read, Update, Delete) operations, allowing students to create, view, edit, and delete academic tasks based on their requirements.</a:t>
            </a:r>
          </a:p>
          <a:p>
            <a:pPr marL="342900" lvl="0" indent="-342900">
              <a:buFont typeface="Arial" panose="020B0604020202020204" pitchFamily="34" charset="0"/>
              <a:buChar char="•"/>
            </a:pPr>
            <a:r>
              <a:rPr lang="en-IN" b="1" dirty="0"/>
              <a:t>Smart Deadline Tracking:</a:t>
            </a:r>
            <a:r>
              <a:rPr lang="en-IN" dirty="0"/>
              <a:t> Automatically classifies tasks into Overdue, Due Today, Upcoming, and Completed categories based on their deadlines and completion status.</a:t>
            </a:r>
          </a:p>
          <a:p>
            <a:pPr marL="342900" lvl="0" indent="-342900">
              <a:buFont typeface="Arial" panose="020B0604020202020204" pitchFamily="34" charset="0"/>
              <a:buChar char="•"/>
            </a:pPr>
            <a:r>
              <a:rPr lang="en-IN" b="1" dirty="0"/>
              <a:t>Priority-Based Sorting:</a:t>
            </a:r>
            <a:r>
              <a:rPr lang="en-IN" dirty="0"/>
              <a:t> Organizes tasks according to High, Medium, and Low priority, using submission deadlines to determine which tasks should be handled first.</a:t>
            </a:r>
          </a:p>
          <a:p>
            <a:pPr marL="342900" lvl="0" indent="-342900">
              <a:buFont typeface="Arial" panose="020B0604020202020204" pitchFamily="34" charset="0"/>
              <a:buChar char="•"/>
            </a:pPr>
            <a:r>
              <a:rPr lang="en-IN" b="1" dirty="0"/>
              <a:t>Interactive Academic Calendar:</a:t>
            </a:r>
            <a:r>
              <a:rPr lang="en-IN" dirty="0"/>
              <a:t> Provides Month, Week, and Agenda views to visualize academic deadlines, plan daily activities, and schedule tasks efficiently.</a:t>
            </a:r>
          </a:p>
          <a:p>
            <a:pPr marL="342900" lvl="0" indent="-342900">
              <a:buFont typeface="Arial" panose="020B0604020202020204" pitchFamily="34" charset="0"/>
              <a:buChar char="•"/>
            </a:pPr>
            <a:r>
              <a:rPr lang="en-IN" b="1" dirty="0"/>
              <a:t>Pomodoro Study Timer:</a:t>
            </a:r>
            <a:r>
              <a:rPr lang="en-IN" dirty="0"/>
              <a:t> Integrates a customizable study timer with session durations, break options, animated countdowns, and audio alerts to encourage focused study sessions.</a:t>
            </a:r>
          </a:p>
          <a:p>
            <a:pPr marL="342900" lvl="0" indent="-342900">
              <a:buFont typeface="Arial" panose="020B0604020202020204" pitchFamily="34" charset="0"/>
              <a:buChar char="•"/>
            </a:pPr>
            <a:r>
              <a:rPr lang="en-IN" b="1" dirty="0"/>
              <a:t>Dashboard Analytics:</a:t>
            </a:r>
            <a:r>
              <a:rPr lang="en-IN" dirty="0"/>
              <a:t> Displays total, pending, completed, and overdue task counts, along with completion progress, helping students monitor their academic workload.</a:t>
            </a:r>
          </a:p>
          <a:p>
            <a:pPr marL="342900" lvl="0" indent="-342900">
              <a:buFont typeface="Arial" panose="020B0604020202020204" pitchFamily="34" charset="0"/>
              <a:buChar char="•"/>
            </a:pPr>
            <a:r>
              <a:rPr lang="en-IN" b="1" dirty="0"/>
              <a:t>Interactive REST API Explorer:</a:t>
            </a:r>
            <a:r>
              <a:rPr lang="en-IN" dirty="0"/>
              <a:t> Allows users to test backend API endpoints directly through the application, inspect request and response data, and view HTTP status codes without external tools.</a:t>
            </a:r>
          </a:p>
        </p:txBody>
      </p:sp>
    </p:spTree>
    <p:extLst>
      <p:ext uri="{BB962C8B-B14F-4D97-AF65-F5344CB8AC3E}">
        <p14:creationId xmlns:p14="http://schemas.microsoft.com/office/powerpoint/2010/main" val="2665118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5EFD21-FF13-0FED-0C26-54A116210A70}"/>
              </a:ext>
            </a:extLst>
          </p:cNvPr>
          <p:cNvSpPr txBox="1"/>
          <p:nvPr/>
        </p:nvSpPr>
        <p:spPr>
          <a:xfrm>
            <a:off x="786580" y="816077"/>
            <a:ext cx="8357419" cy="5078313"/>
          </a:xfrm>
          <a:prstGeom prst="rect">
            <a:avLst/>
          </a:prstGeom>
          <a:noFill/>
        </p:spPr>
        <p:txBody>
          <a:bodyPr wrap="square">
            <a:spAutoFit/>
          </a:bodyPr>
          <a:lstStyle/>
          <a:p>
            <a:pPr>
              <a:buNone/>
            </a:pPr>
            <a:r>
              <a:rPr lang="en-IN" b="1" dirty="0"/>
              <a:t>System Architecture</a:t>
            </a:r>
          </a:p>
          <a:p>
            <a:pPr marL="342900" lvl="0" indent="-342900">
              <a:buFont typeface="Arial" panose="020B0604020202020204" pitchFamily="34" charset="0"/>
              <a:buChar char="•"/>
            </a:pPr>
            <a:r>
              <a:rPr lang="en-IN" b="1" dirty="0"/>
              <a:t>Frontend:</a:t>
            </a:r>
            <a:r>
              <a:rPr lang="en-IN" dirty="0"/>
              <a:t> React 19, Vite, Bootstrap 5, and CSS.</a:t>
            </a:r>
          </a:p>
          <a:p>
            <a:pPr marL="342900" lvl="0" indent="-342900">
              <a:buFont typeface="Arial" panose="020B0604020202020204" pitchFamily="34" charset="0"/>
              <a:buChar char="•"/>
            </a:pPr>
            <a:r>
              <a:rPr lang="en-IN" b="1" dirty="0"/>
              <a:t>Backend:</a:t>
            </a:r>
            <a:r>
              <a:rPr lang="en-IN" dirty="0"/>
              <a:t> Node.js and Express.js handle business logic and REST API requests.</a:t>
            </a:r>
          </a:p>
          <a:p>
            <a:pPr marL="342900" lvl="0" indent="-342900">
              <a:buFont typeface="Arial" panose="020B0604020202020204" pitchFamily="34" charset="0"/>
              <a:buChar char="•"/>
            </a:pPr>
            <a:r>
              <a:rPr lang="en-IN" b="1" dirty="0"/>
              <a:t>Database:</a:t>
            </a:r>
            <a:r>
              <a:rPr lang="en-IN" dirty="0"/>
              <a:t> MongoDB stores task data, with Mongoose for schema validation.</a:t>
            </a:r>
          </a:p>
          <a:p>
            <a:pPr>
              <a:buNone/>
            </a:pPr>
            <a:r>
              <a:rPr lang="en-IN" b="1" dirty="0"/>
              <a:t>System Workflow</a:t>
            </a:r>
          </a:p>
          <a:p>
            <a:pPr>
              <a:buNone/>
            </a:pPr>
            <a:r>
              <a:rPr lang="en-IN" b="1" dirty="0"/>
              <a:t>React Frontend → Express.js REST API → Mongoose → MongoDB</a:t>
            </a:r>
            <a:endParaRPr lang="en-IN" dirty="0"/>
          </a:p>
          <a:p>
            <a:pPr marL="342900" lvl="0" indent="-342900">
              <a:buFont typeface="Arial" panose="020B0604020202020204" pitchFamily="34" charset="0"/>
              <a:buChar char="•"/>
            </a:pPr>
            <a:r>
              <a:rPr lang="en-IN" dirty="0"/>
              <a:t>Users perform task operations through the frontend.</a:t>
            </a:r>
          </a:p>
          <a:p>
            <a:pPr marL="342900" lvl="0" indent="-342900">
              <a:buFont typeface="Arial" panose="020B0604020202020204" pitchFamily="34" charset="0"/>
              <a:buChar char="•"/>
            </a:pPr>
            <a:r>
              <a:rPr lang="en-IN" dirty="0"/>
              <a:t>The backend validates requests and interacts with the database.</a:t>
            </a:r>
          </a:p>
          <a:p>
            <a:pPr marL="342900" lvl="0" indent="-342900">
              <a:buFont typeface="Arial" panose="020B0604020202020204" pitchFamily="34" charset="0"/>
              <a:buChar char="•"/>
            </a:pPr>
            <a:r>
              <a:rPr lang="en-IN" dirty="0"/>
              <a:t>JSON responses update the user interface.</a:t>
            </a:r>
          </a:p>
          <a:p>
            <a:pPr>
              <a:buNone/>
            </a:pPr>
            <a:r>
              <a:rPr lang="en-IN" b="1" dirty="0"/>
              <a:t>Database Design</a:t>
            </a:r>
          </a:p>
          <a:p>
            <a:pPr>
              <a:buNone/>
            </a:pPr>
            <a:r>
              <a:rPr lang="en-IN" b="1" dirty="0"/>
              <a:t>Collection: </a:t>
            </a:r>
            <a:r>
              <a:rPr lang="en-IN" b="1" dirty="0">
                <a:latin typeface="+mn-lt"/>
              </a:rPr>
              <a:t>tasks</a:t>
            </a:r>
            <a:endParaRPr lang="en-IN" dirty="0"/>
          </a:p>
          <a:p>
            <a:pPr marL="342900" lvl="0" indent="-342900">
              <a:buFont typeface="Arial" panose="020B0604020202020204" pitchFamily="34" charset="0"/>
              <a:buChar char="•"/>
            </a:pPr>
            <a:r>
              <a:rPr lang="en-IN" dirty="0" err="1">
                <a:latin typeface="+mn-lt"/>
              </a:rPr>
              <a:t>taskName</a:t>
            </a:r>
            <a:r>
              <a:rPr lang="en-IN" dirty="0"/>
              <a:t> – Task name</a:t>
            </a:r>
          </a:p>
          <a:p>
            <a:pPr marL="342900" lvl="0" indent="-342900">
              <a:buFont typeface="Arial" panose="020B0604020202020204" pitchFamily="34" charset="0"/>
              <a:buChar char="•"/>
            </a:pPr>
            <a:r>
              <a:rPr lang="en-IN" dirty="0">
                <a:latin typeface="+mn-lt"/>
              </a:rPr>
              <a:t>subject</a:t>
            </a:r>
            <a:r>
              <a:rPr lang="en-IN" dirty="0"/>
              <a:t> – Academic subject</a:t>
            </a:r>
          </a:p>
          <a:p>
            <a:pPr marL="342900" lvl="0" indent="-342900">
              <a:buFont typeface="Arial" panose="020B0604020202020204" pitchFamily="34" charset="0"/>
              <a:buChar char="•"/>
            </a:pPr>
            <a:r>
              <a:rPr lang="en-IN" dirty="0">
                <a:latin typeface="+mn-lt"/>
              </a:rPr>
              <a:t>deadline</a:t>
            </a:r>
            <a:r>
              <a:rPr lang="en-IN" dirty="0"/>
              <a:t> – Submission date</a:t>
            </a:r>
          </a:p>
          <a:p>
            <a:pPr marL="342900" lvl="0" indent="-342900">
              <a:buFont typeface="Arial" panose="020B0604020202020204" pitchFamily="34" charset="0"/>
              <a:buChar char="•"/>
            </a:pPr>
            <a:r>
              <a:rPr lang="en-IN" dirty="0">
                <a:latin typeface="+mn-lt"/>
              </a:rPr>
              <a:t>priority</a:t>
            </a:r>
            <a:r>
              <a:rPr lang="en-IN" dirty="0"/>
              <a:t> – High / Medium / Low</a:t>
            </a:r>
          </a:p>
          <a:p>
            <a:pPr marL="342900" lvl="0" indent="-342900">
              <a:buFont typeface="Arial" panose="020B0604020202020204" pitchFamily="34" charset="0"/>
              <a:buChar char="•"/>
            </a:pPr>
            <a:r>
              <a:rPr lang="en-IN" dirty="0">
                <a:latin typeface="+mn-lt"/>
              </a:rPr>
              <a:t>status</a:t>
            </a:r>
            <a:r>
              <a:rPr lang="en-IN" dirty="0"/>
              <a:t> – Pending / In Progress / Completed</a:t>
            </a:r>
          </a:p>
          <a:p>
            <a:pPr marL="342900" lvl="0" indent="-342900">
              <a:buFont typeface="Arial" panose="020B0604020202020204" pitchFamily="34" charset="0"/>
              <a:buChar char="•"/>
            </a:pPr>
            <a:r>
              <a:rPr lang="en-IN" dirty="0" err="1">
                <a:latin typeface="+mn-lt"/>
              </a:rPr>
              <a:t>createdAt</a:t>
            </a:r>
            <a:r>
              <a:rPr lang="en-IN" dirty="0"/>
              <a:t>, </a:t>
            </a:r>
            <a:r>
              <a:rPr lang="en-IN" dirty="0" err="1">
                <a:latin typeface="+mn-lt"/>
              </a:rPr>
              <a:t>updatedAt</a:t>
            </a:r>
            <a:r>
              <a:rPr lang="en-IN" dirty="0"/>
              <a:t> – Timestamps</a:t>
            </a:r>
          </a:p>
          <a:p>
            <a:pPr>
              <a:buNone/>
            </a:pPr>
            <a:r>
              <a:rPr lang="en-IN" b="1" dirty="0"/>
              <a:t>Data Validation:</a:t>
            </a:r>
            <a:r>
              <a:rPr lang="en-IN" dirty="0"/>
              <a:t> Mongoose ensures required fields and valid values.</a:t>
            </a:r>
          </a:p>
        </p:txBody>
      </p:sp>
    </p:spTree>
    <p:extLst>
      <p:ext uri="{BB962C8B-B14F-4D97-AF65-F5344CB8AC3E}">
        <p14:creationId xmlns:p14="http://schemas.microsoft.com/office/powerpoint/2010/main" val="2740859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0F7F0E-2AE5-46D7-B945-C63E4FD5E0B9}"/>
              </a:ext>
            </a:extLst>
          </p:cNvPr>
          <p:cNvSpPr txBox="1"/>
          <p:nvPr/>
        </p:nvSpPr>
        <p:spPr>
          <a:xfrm>
            <a:off x="717755" y="1219200"/>
            <a:ext cx="10353367" cy="4524315"/>
          </a:xfrm>
          <a:prstGeom prst="rect">
            <a:avLst/>
          </a:prstGeom>
          <a:noFill/>
        </p:spPr>
        <p:txBody>
          <a:bodyPr wrap="square">
            <a:spAutoFit/>
          </a:bodyPr>
          <a:lstStyle/>
          <a:p>
            <a:pPr>
              <a:buNone/>
            </a:pPr>
            <a:r>
              <a:rPr lang="en-IN" b="1" dirty="0"/>
              <a:t>Implementation</a:t>
            </a:r>
          </a:p>
          <a:p>
            <a:pPr marL="342900" lvl="0" indent="-342900">
              <a:buFont typeface="Arial" panose="020B0604020202020204" pitchFamily="34" charset="0"/>
              <a:buChar char="•"/>
            </a:pPr>
            <a:r>
              <a:rPr lang="en-IN" b="1" dirty="0"/>
              <a:t>Task Management:</a:t>
            </a:r>
            <a:r>
              <a:rPr lang="en-IN" dirty="0"/>
              <a:t> Implemented CRUD operations using REST APIs.</a:t>
            </a:r>
          </a:p>
          <a:p>
            <a:pPr marL="342900" lvl="0" indent="-342900">
              <a:buFont typeface="Arial" panose="020B0604020202020204" pitchFamily="34" charset="0"/>
              <a:buChar char="•"/>
            </a:pPr>
            <a:r>
              <a:rPr lang="en-IN" b="1" dirty="0"/>
              <a:t>Dashboard:</a:t>
            </a:r>
            <a:r>
              <a:rPr lang="en-IN" dirty="0"/>
              <a:t> Displays total, pending, completed, and overdue tasks.</a:t>
            </a:r>
          </a:p>
          <a:p>
            <a:pPr marL="342900" lvl="0" indent="-342900">
              <a:buFont typeface="Arial" panose="020B0604020202020204" pitchFamily="34" charset="0"/>
              <a:buChar char="•"/>
            </a:pPr>
            <a:r>
              <a:rPr lang="en-IN" b="1" dirty="0"/>
              <a:t>Calendar:</a:t>
            </a:r>
            <a:r>
              <a:rPr lang="en-IN" dirty="0"/>
              <a:t> Provides Month, Week, and Agenda views for deadlines.</a:t>
            </a:r>
          </a:p>
          <a:p>
            <a:pPr marL="342900" lvl="0" indent="-342900">
              <a:buFont typeface="Arial" panose="020B0604020202020204" pitchFamily="34" charset="0"/>
              <a:buChar char="•"/>
            </a:pPr>
            <a:r>
              <a:rPr lang="en-IN" b="1" dirty="0"/>
              <a:t>Pomodoro Timer:</a:t>
            </a:r>
            <a:r>
              <a:rPr lang="en-IN" dirty="0"/>
              <a:t> Supports focused study sessions and break intervals.</a:t>
            </a:r>
          </a:p>
          <a:p>
            <a:pPr marL="342900" lvl="0" indent="-342900">
              <a:buFont typeface="Arial" panose="020B0604020202020204" pitchFamily="34" charset="0"/>
              <a:buChar char="•"/>
            </a:pPr>
            <a:r>
              <a:rPr lang="en-IN" b="1" dirty="0"/>
              <a:t>API Explorer:</a:t>
            </a:r>
            <a:r>
              <a:rPr lang="en-IN" dirty="0"/>
              <a:t> Enables testing of backend endpoints and viewing responses.</a:t>
            </a:r>
          </a:p>
          <a:p>
            <a:pPr lvl="0"/>
            <a:endParaRPr lang="en-IN" dirty="0"/>
          </a:p>
          <a:p>
            <a:pPr>
              <a:buNone/>
            </a:pPr>
            <a:r>
              <a:rPr lang="en-IN" b="1" dirty="0"/>
              <a:t>Key Algorithms</a:t>
            </a:r>
          </a:p>
          <a:p>
            <a:pPr marL="342900" lvl="0" indent="-342900">
              <a:buFont typeface="Arial" panose="020B0604020202020204" pitchFamily="34" charset="0"/>
              <a:buChar char="•"/>
            </a:pPr>
            <a:r>
              <a:rPr lang="en-IN" b="1" dirty="0"/>
              <a:t>Deadline Classification:</a:t>
            </a:r>
            <a:r>
              <a:rPr lang="en-IN" dirty="0"/>
              <a:t> Categorizes tasks as Overdue, Due Today, Upcoming, or Completed.</a:t>
            </a:r>
          </a:p>
          <a:p>
            <a:pPr marL="342900" lvl="0" indent="-342900">
              <a:buFont typeface="Arial" panose="020B0604020202020204" pitchFamily="34" charset="0"/>
              <a:buChar char="•"/>
            </a:pPr>
            <a:r>
              <a:rPr lang="en-IN" b="1" dirty="0"/>
              <a:t>Priority-Based Sorting:</a:t>
            </a:r>
            <a:r>
              <a:rPr lang="en-IN" dirty="0"/>
              <a:t> Organizes tasks by priority and submission deadline.</a:t>
            </a:r>
          </a:p>
          <a:p>
            <a:pPr marL="342900" lvl="0" indent="-342900">
              <a:buFont typeface="Arial" panose="020B0604020202020204" pitchFamily="34" charset="0"/>
              <a:buChar char="•"/>
            </a:pPr>
            <a:r>
              <a:rPr lang="en-IN" b="1" dirty="0"/>
              <a:t>Progress Tracking:</a:t>
            </a:r>
            <a:r>
              <a:rPr lang="en-IN" dirty="0"/>
              <a:t> Calculates task completion statistics for the dashboard.</a:t>
            </a:r>
          </a:p>
          <a:p>
            <a:pPr lvl="0"/>
            <a:endParaRPr lang="en-IN" dirty="0"/>
          </a:p>
          <a:p>
            <a:pPr>
              <a:buNone/>
            </a:pPr>
            <a:r>
              <a:rPr lang="en-IN" b="1" dirty="0"/>
              <a:t>Testing</a:t>
            </a:r>
          </a:p>
          <a:p>
            <a:pPr marL="342900" lvl="0" indent="-342900">
              <a:buFont typeface="Arial" panose="020B0604020202020204" pitchFamily="34" charset="0"/>
              <a:buChar char="•"/>
            </a:pPr>
            <a:r>
              <a:rPr lang="en-IN" dirty="0"/>
              <a:t>Tested REST API endpoints and CRUD operations.</a:t>
            </a:r>
          </a:p>
          <a:p>
            <a:pPr marL="342900" lvl="0" indent="-342900">
              <a:buFont typeface="Arial" panose="020B0604020202020204" pitchFamily="34" charset="0"/>
              <a:buChar char="•"/>
            </a:pPr>
            <a:r>
              <a:rPr lang="en-IN" dirty="0"/>
              <a:t>Verified task validation, deadline classification, and priority sorting.</a:t>
            </a:r>
          </a:p>
          <a:p>
            <a:pPr marL="342900" lvl="0" indent="-342900">
              <a:buFont typeface="Arial" panose="020B0604020202020204" pitchFamily="34" charset="0"/>
              <a:buChar char="•"/>
            </a:pPr>
            <a:r>
              <a:rPr lang="en-IN" dirty="0"/>
              <a:t>Checked dashboard updates and responsive interface </a:t>
            </a:r>
            <a:r>
              <a:rPr lang="en-IN" dirty="0" err="1"/>
              <a:t>behavior</a:t>
            </a:r>
            <a:r>
              <a:rPr lang="en-IN" dirty="0"/>
              <a:t>.</a:t>
            </a:r>
          </a:p>
        </p:txBody>
      </p:sp>
    </p:spTree>
    <p:extLst>
      <p:ext uri="{BB962C8B-B14F-4D97-AF65-F5344CB8AC3E}">
        <p14:creationId xmlns:p14="http://schemas.microsoft.com/office/powerpoint/2010/main" val="314503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17F5B1-BF9F-4AE7-601C-F7D1C18BC8C5}"/>
              </a:ext>
            </a:extLst>
          </p:cNvPr>
          <p:cNvSpPr txBox="1"/>
          <p:nvPr/>
        </p:nvSpPr>
        <p:spPr>
          <a:xfrm>
            <a:off x="560439" y="1032387"/>
            <a:ext cx="9822425" cy="4524315"/>
          </a:xfrm>
          <a:prstGeom prst="rect">
            <a:avLst/>
          </a:prstGeom>
          <a:noFill/>
        </p:spPr>
        <p:txBody>
          <a:bodyPr wrap="square">
            <a:spAutoFit/>
          </a:bodyPr>
          <a:lstStyle/>
          <a:p>
            <a:pPr>
              <a:buNone/>
            </a:pPr>
            <a:r>
              <a:rPr lang="en-IN" b="1" dirty="0"/>
              <a:t>Challenges Faced</a:t>
            </a:r>
          </a:p>
          <a:p>
            <a:pPr marL="342900" lvl="0" indent="-342900">
              <a:buFont typeface="Arial" panose="020B0604020202020204" pitchFamily="34" charset="0"/>
              <a:buChar char="•"/>
            </a:pPr>
            <a:r>
              <a:rPr lang="en-IN" dirty="0"/>
              <a:t>Implementing accurate deadline-based task classification.</a:t>
            </a:r>
          </a:p>
          <a:p>
            <a:pPr marL="342900" lvl="0" indent="-342900">
              <a:buFont typeface="Arial" panose="020B0604020202020204" pitchFamily="34" charset="0"/>
              <a:buChar char="•"/>
            </a:pPr>
            <a:r>
              <a:rPr lang="en-IN" dirty="0"/>
              <a:t>Managing task priorities and sorting efficiently.</a:t>
            </a:r>
          </a:p>
          <a:p>
            <a:pPr marL="342900" lvl="0" indent="-342900">
              <a:buFont typeface="Arial" panose="020B0604020202020204" pitchFamily="34" charset="0"/>
              <a:buChar char="•"/>
            </a:pPr>
            <a:r>
              <a:rPr lang="en-IN" dirty="0"/>
              <a:t>Integrating the calendar and Pomodoro timer into the application.</a:t>
            </a:r>
          </a:p>
          <a:p>
            <a:pPr marL="342900" lvl="0" indent="-342900">
              <a:buFont typeface="Arial" panose="020B0604020202020204" pitchFamily="34" charset="0"/>
              <a:buChar char="•"/>
            </a:pPr>
            <a:r>
              <a:rPr lang="en-IN" dirty="0"/>
              <a:t>Ensuring smooth communication between the frontend, backend, and database.</a:t>
            </a:r>
          </a:p>
          <a:p>
            <a:pPr lvl="0"/>
            <a:endParaRPr lang="en-IN" dirty="0"/>
          </a:p>
          <a:p>
            <a:pPr>
              <a:buNone/>
            </a:pPr>
            <a:r>
              <a:rPr lang="en-IN" b="1" dirty="0"/>
              <a:t>Future Enhancements</a:t>
            </a:r>
          </a:p>
          <a:p>
            <a:pPr marL="342900" lvl="0" indent="-342900">
              <a:buFont typeface="Arial" panose="020B0604020202020204" pitchFamily="34" charset="0"/>
              <a:buChar char="•"/>
            </a:pPr>
            <a:r>
              <a:rPr lang="en-IN" b="1" dirty="0"/>
              <a:t>Notifications:</a:t>
            </a:r>
            <a:r>
              <a:rPr lang="en-IN" dirty="0"/>
              <a:t> Reminders for upcoming deadlines.</a:t>
            </a:r>
          </a:p>
          <a:p>
            <a:pPr marL="342900" lvl="0" indent="-342900">
              <a:buFont typeface="Arial" panose="020B0604020202020204" pitchFamily="34" charset="0"/>
              <a:buChar char="•"/>
            </a:pPr>
            <a:r>
              <a:rPr lang="en-IN" b="1" dirty="0"/>
              <a:t>AI-Based Scheduling:</a:t>
            </a:r>
            <a:r>
              <a:rPr lang="en-IN" dirty="0"/>
              <a:t> Smart task prioritization and study planning.</a:t>
            </a:r>
          </a:p>
          <a:p>
            <a:pPr marL="342900" lvl="0" indent="-342900">
              <a:buFont typeface="Arial" panose="020B0604020202020204" pitchFamily="34" charset="0"/>
              <a:buChar char="•"/>
            </a:pPr>
            <a:r>
              <a:rPr lang="en-IN" b="1" dirty="0"/>
              <a:t>Analytics:</a:t>
            </a:r>
            <a:r>
              <a:rPr lang="en-IN" dirty="0"/>
              <a:t> Detailed productivity and performance reports.</a:t>
            </a:r>
          </a:p>
          <a:p>
            <a:pPr marL="342900" lvl="0" indent="-342900">
              <a:buFont typeface="Arial" panose="020B0604020202020204" pitchFamily="34" charset="0"/>
              <a:buChar char="•"/>
            </a:pPr>
            <a:r>
              <a:rPr lang="en-IN" b="1" dirty="0"/>
              <a:t>Authentication:</a:t>
            </a:r>
            <a:r>
              <a:rPr lang="en-IN" dirty="0"/>
              <a:t> Individual student accounts and personalized task management.</a:t>
            </a:r>
          </a:p>
          <a:p>
            <a:pPr lvl="0"/>
            <a:endParaRPr lang="en-IN" dirty="0"/>
          </a:p>
          <a:p>
            <a:pPr>
              <a:buNone/>
            </a:pPr>
            <a:r>
              <a:rPr lang="en-IN" b="1" dirty="0"/>
              <a:t>Conclusion</a:t>
            </a:r>
          </a:p>
          <a:p>
            <a:pPr>
              <a:buNone/>
            </a:pPr>
            <a:r>
              <a:rPr lang="en-IN" dirty="0" err="1"/>
              <a:t>StudyPulse</a:t>
            </a:r>
            <a:r>
              <a:rPr lang="en-IN" dirty="0"/>
              <a:t> provides a centralized platform for managing academic tasks, tracking deadlines, and improving study productivity. By combining task management, calendar scheduling, and focused study sessions, it helps students organize their academic workload more effectively.</a:t>
            </a:r>
          </a:p>
        </p:txBody>
      </p:sp>
    </p:spTree>
    <p:extLst>
      <p:ext uri="{BB962C8B-B14F-4D97-AF65-F5344CB8AC3E}">
        <p14:creationId xmlns:p14="http://schemas.microsoft.com/office/powerpoint/2010/main" val="3542041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E9863-7D44-6983-A0E0-A8881BD6F2AE}"/>
              </a:ext>
            </a:extLst>
          </p:cNvPr>
          <p:cNvSpPr>
            <a:spLocks noGrp="1"/>
          </p:cNvSpPr>
          <p:nvPr>
            <p:ph type="title"/>
          </p:nvPr>
        </p:nvSpPr>
        <p:spPr>
          <a:xfrm>
            <a:off x="0" y="403123"/>
            <a:ext cx="12192000" cy="6046838"/>
          </a:xfrm>
        </p:spPr>
        <p:txBody>
          <a:bodyPr/>
          <a:lstStyle/>
          <a:p>
            <a:pPr algn="ctr"/>
            <a:r>
              <a:rPr lang="en-IN" dirty="0"/>
              <a:t>Thank You </a:t>
            </a:r>
          </a:p>
        </p:txBody>
      </p:sp>
    </p:spTree>
    <p:extLst>
      <p:ext uri="{BB962C8B-B14F-4D97-AF65-F5344CB8AC3E}">
        <p14:creationId xmlns:p14="http://schemas.microsoft.com/office/powerpoint/2010/main" val="2754982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784</Words>
  <Application>Microsoft Office PowerPoint</Application>
  <PresentationFormat>Widescreen</PresentationFormat>
  <Paragraphs>80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StudyPulse: A Smart Student Workload Management System</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ganeshnamani01@gmail.com</dc:creator>
  <cp:lastModifiedBy>ganeshnamani01@gmail.com</cp:lastModifiedBy>
  <cp:revision>1</cp:revision>
  <dcterms:created xsi:type="dcterms:W3CDTF">2026-10-12T15:09:03Z</dcterms:created>
  <dcterms:modified xsi:type="dcterms:W3CDTF">2026-10-12T15:21:58Z</dcterms:modified>
</cp:coreProperties>
</file>